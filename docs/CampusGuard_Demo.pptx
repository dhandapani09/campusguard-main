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5600" b="1">
                <a:solidFill>
                  <a:srgbClr val="FFFFFF"/>
                </a:solidFill>
                <a:latin typeface="Segoe UI"/>
              </a:defRPr>
            </a:pPr>
            <a:r>
              <a:t>CAMPUSGUARD</a:t>
            </a:r>
          </a:p>
          <a:p>
            <a:pPr>
              <a:spcAft>
                <a:spcPts val="2000"/>
              </a:spcAft>
              <a:defRPr sz="2400">
                <a:solidFill>
                  <a:srgbClr val="06B6D4"/>
                </a:solidFill>
                <a:latin typeface="Segoe UI"/>
              </a:defRPr>
            </a:pPr>
            <a:r>
              <a:t>Enterprise Visitor Management System</a:t>
            </a:r>
          </a:p>
          <a:p>
            <a:pPr>
              <a:defRPr sz="1400">
                <a:solidFill>
                  <a:srgbClr val="9CA3AF"/>
                </a:solidFill>
                <a:latin typeface="Segoe UI"/>
              </a:defRPr>
            </a:pPr>
            <a:r>
              <a:t>E2E Technical &amp; Functional Walkthrough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System Vision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645920" cy="457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CampusGuard VMS | Technical &amp; Functional E2E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Operational Goals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Replace manual paper visitor registries with a high-speed secure digital portal.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Drive zero-wait check-ins for verified, pre-registered VIP clients &amp; customers.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Implement comprehensive asset and accessory tracking (Laptops, mobile devices).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Enforce automated protocols for forgotten employee ID tags (Temp Badge tracking).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Provide real-time site evacuations and instant muster list check-offs.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Key Architecture Principles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Decoupled Multi-Service: Clean API/Frontend boundaries running containerized in Docker.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Relational Master Integrity: Robust metadata definitions for multi-building facilities.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Real-Time Audit Log: Chronological capture of visitor locations and active sessions.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Asynchronous Communications: Parallel notification queues using Kafka &amp; Zookeeper.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Role-Based Access Control: Granular visual restrictions and API-level authorization guards.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Operational Analytics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645920" cy="457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CampusGuard VMS | Technical &amp; Functional E2E Walkthrough</a:t>
            </a:r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68580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0" y="1645920"/>
            <a:ext cx="3730752" cy="411480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1828800"/>
            <a:ext cx="3364992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Dashboard Features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Real-time Active Counter: Tracks the head count of visitors currently in the building.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Check-in Rate Graph: Displays entry flow metrics over the past 24 hours.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Quick Stats Cards: Highlights pending requests, VIP arrivals, and overstay warnings.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Global Site Selector: Allows guards and administrators to switch site locations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System Technical Architecture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645920" cy="457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CampusGuard VMS | Technical &amp; Functional E2E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3328416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962656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1. Frontend Shell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Framework: ReactJS &amp; Vite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Styling: Vanilla CSS, corporate dark/light variables.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Icons: Lucide React library.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State Management: React context providers (AppContext, VisitorContext) for session and state sync.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API Client: Axios/fetch abstraction with auto X-User-Role header injection.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2. Core Backend API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Framework: FastAPI (Python 3.11).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Server: Uvicorn ASGI.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Database ORM: SQLAlchemy with declarative relational tables.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Relational Database: PostgreSQL.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Schemas: Strict schemas using Pydantic.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Security Dependencies: Custom header token validators restricting routes to specific role list matches.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5592" y="1645920"/>
            <a:ext cx="3337560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971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3. Utilities &amp; Storage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Object Storage: MinIO server storing visitor photos captured during entry registration.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Message Broker: Apache Kafka and ZooKeeper orchestrating async alert notifications.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Docker Orchestration: Multi-container setup coordinating frontend, backend, PostgreSQL, MinIO, and Kafka queues.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Edge Deployment ready.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Role-Based Access Control (RBAC)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645920" cy="457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CampusGuard VMS | Technical &amp; Functional E2E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3328416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2962656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Administrator (Admin)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Scope: Full read-write configuration settings access.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UI Navigation: Can view Settings, Global HQ, Reports, and Gate Entry.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Settings Panel: Configures custom branding properties, SMTP notifications thresholds, and creates operator logins.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API Permissions: Allowed full read/write accesses to all backend endpoints without exception.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25696" y="1645920"/>
            <a:ext cx="3328416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28800"/>
            <a:ext cx="2962656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Security Guard (Guard)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Scope: Front-desk operational entry and exits terminals control.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UI Navigation: Can view Gate Entry tabs (Check-ins, Return inputs), Gate Exit, Local Feed, and Logs Reports.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Restricted: Hides Settings page, operator creations, and Global HQ dashboard.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API Permissions: Access to checkins, checkout, master reads, blacklist warnings. Blocked from user edits and branding.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65592" y="1645920"/>
            <a:ext cx="3337560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1828800"/>
            <a:ext cx="2971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Department Staff (Host)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Scope: Employee pre-invite portal &amp; filtered read-only reports.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UI Navigation: View-only Reports (showing own guests) and Gate Entry tab 4 only.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Restricted: Hides checkout buttons, reprints, exits, master data edits, and dashboards.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API Permissions: Can only fetch own requested invites/logs and write pre-registrations with status=REQUESTED.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Gate Entry Check-in &amp; Activations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645920" cy="457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CampusGuard VMS | Technical &amp; Functional E2E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New Registrations &amp; Exits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General Visitors: Form registers name, phone, coming from, host, building location, and check-in timestamp.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Asset / Accessory Registry: Multi-item serialization capturing laptops, mobile devices, and camera details.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Camera Webcam Interface: Captures visitor photo on-site. Automatically bypassed for VIP clients.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Pass Preview: Renders A6 card layout with visitor details, photos, specific category color banner, and QR code.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Exits: Scan QR pass or query name to log exits.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Same-Screen Invite Activations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Redirection: Guards locate pending invites under Tab 2 (Invites) and click 'Verify &amp; Check In'.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Same-Screen Pre-fill: Instantly redirects to Tab 1 (New Registration) and auto-populates the complete registration form.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Verification Indicator: Displays Indigo alert banner 'Verifying Invite Pass: VIS-XXXXXX'. A cancel link resets the form.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Full Support: Operator records serial numbers, captures live photo, and issues standard badge pass instantly.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Gate Entry &amp; Pass Issuance Portal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645920" cy="457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CampusGuard VMS | Technical &amp; Functional E2E Walkthrough</a:t>
            </a:r>
          </a:p>
        </p:txBody>
      </p:sp>
      <p:pic>
        <p:nvPicPr>
          <p:cNvPr id="5" name="Picture 4" descr="check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68580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0" y="1645920"/>
            <a:ext cx="3730752" cy="411480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1828800"/>
            <a:ext cx="3364992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Check-In Workflow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Dual-Panel Layout: Forms on the left and digital pass preview with photo capture on the right.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Dynamic Form Prefills: Automatically fills fields when activating invitations, saving guard processing time.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Digital Badge rendering: Outputs printable visitor card including QR code and safety instructions.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Accessory Serialized Logging: Links accessories directly to visitor pass database records.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Host Portal &amp; Anti-Spoof Protection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645920" cy="457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CampusGuard VMS | Technical &amp; Functional E2E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Host Pre-Registration Portal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Expected Arrival: Adds expected arrival date-time input when requesting a pass.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Auto-Filled Host Details: Detects logged-in employee username and sets the host field to their profile name.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Read-Only Control: The host name input is rendered disabled (read-only) for Hosts, ensuring they cannot issue invitations on behalf of other employees.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Backend Host-Spoofing Intercepts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Status Verification: Backend rejects requests from Host role if status is anything other than 'REQUESTED'. Hosts cannot check in guests directly.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Name Verification: FastAPI require_role check looks up Host's account and rejects visitors creation if the host field does not match the Host's profile name.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Secure Isolation: Prevents malicious role-escalation at the database boundary.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Visitor Auditing &amp; Logs Reports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645920" cy="457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CampusGuard VMS | Technical &amp; Functional E2E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Filtered View-Only Logs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Reports Access: Host role is granted access to the Reports tab to audit their guests.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Host Filter: The backend endpoint '/visitors/history' checks the request headers and filters results to return only visitor logs hosted by that host.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UI Filter Backup: The reports grid filters matching logs to 'item.host === currentUser.name' for absolute security.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Logs Operations &amp; Reprints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Action Blocking: If user role is Host, the 'Force Permanent Checkout' and 'Reprint ID Pass' buttons are hidden.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Force Checkout (Guards): Allows operators to forcefully check out an active visitor from reports.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Pass Reprint (Guards): Reprints badges for active/temp-out visitors on site. Disabled for checked-out guests.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Smart Telemetry &amp; Tele-Evacuation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645920" cy="457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CampusGuard VMS | Technical &amp; Functional E2E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AI Analytics &amp; Telemetry Alerts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Intent Routing: Auto-routes visitor notifications dynamically based on purpose of visit analysis.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Purpose Sentiment Warnings: Scans purpose input and flags security operators during registration of aggressive or suspicious words.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Overstay Warnings: Highlights visitors in red on local feeds and logs tables if their active session timestamp exceeds the Valid Upto threshold.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Muster Evacuation Panic Mode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Red Panic Button: Visible on the Local Feed dashboard.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Instant Active Roll-Call: Clicking it suspends standard views and compiles a roll-call of all currently checked-in visitors grouped by building.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Check-Off: Evacuation wardens check off visitors at assembly muster points. Renders clean PDF evacuation reports.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Muster Evacuation Console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645920" cy="457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CampusGuard VMS | Technical &amp; Functional E2E Walkthrough</a:t>
            </a:r>
          </a:p>
        </p:txBody>
      </p:sp>
      <p:pic>
        <p:nvPicPr>
          <p:cNvPr id="5" name="Picture 4" descr="evacu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685800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772400" y="1645920"/>
            <a:ext cx="3730752" cy="411480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0" y="1828800"/>
            <a:ext cx="3364992" cy="3749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Muster Protocol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Emergency Evacuation Bar: High-contrast red flashing indicator to announce panic state.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Real-time Roll-Call: Immediate checklist of all active visitors on-site, grouped by zone.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Live Safety Mark: Wardens check off visitors at assembly points to mark them as 'Safe'.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Export Muster Log: Generates instant PDF log files for incident post-mortems.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Segoe UI"/>
              </a:defRPr>
            </a:pPr>
            <a:r>
              <a:t>E2E Programmatic Test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645920" cy="45720"/>
          </a:xfrm>
          <a:prstGeom prst="rect">
            <a:avLst/>
          </a:prstGeom>
          <a:solidFill>
            <a:srgbClr val="4F46E5"/>
          </a:solidFill>
          <a:ln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6400800"/>
            <a:ext cx="108200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CA3AF"/>
                </a:solidFill>
                <a:latin typeface="Segoe UI"/>
              </a:defRPr>
            </a:pPr>
            <a:r>
              <a:t>CampusGuard VMS | Technical &amp; Functional E2E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Automated Test Scripts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Script 1: 'scratch/test_api.py' validates checkins, temporary returns, check-out status modifications, expected arrival mappings, and settings creation schemas.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Script 2: 'scratch/test_rbac.py' validates API route permissions boundaries by injecting roles via headers.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82512" y="1645920"/>
            <a:ext cx="5120640" cy="4389120"/>
          </a:xfrm>
          <a:prstGeom prst="rect">
            <a:avLst/>
          </a:prstGeom>
          <a:solidFill>
            <a:srgbClr val="141626"/>
          </a:solidFill>
          <a:ln w="19050">
            <a:solidFill>
              <a:srgbClr val="2326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828800"/>
            <a:ext cx="475488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Segoe UI"/>
              </a:defRPr>
            </a:pPr>
            <a:r>
              <a:t>RBAC Verification Boundaries Output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GET /api/users as Host -&gt; Blocked (403 Forbidden).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GET /api/users as Admin -&gt; Allowed (200 OK).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POST /api/visitors (ACTIVE checkin) as Host -&gt; Blocked (403 Forbidden).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POST /api/visitors (REQUESTED) as Host (Mismatched Name) -&gt; Blocked (403 Forbidden).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POST /api/settings/branding as Guard -&gt; Blocked (403 Forbidden).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150">
                <a:solidFill>
                  <a:srgbClr val="D1D5DB"/>
                </a:solidFill>
                <a:latin typeface="Segoe UI"/>
              </a:defRPr>
            </a:pPr>
            <a:r>
              <a:t>GET /api/visitors/history as Host -&gt; Allowed &amp; Filtered to own guests.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